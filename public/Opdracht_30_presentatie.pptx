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E88BDA2-FC4F-4ADA-8359-9BC13A74BC63}" v="59" dt="2026-04-15T08:52:05.58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65"/>
  </p:normalViewPr>
  <p:slideViewPr>
    <p:cSldViewPr snapToGrid="0">
      <p:cViewPr varScale="1">
        <p:scale>
          <a:sx n="107" d="100"/>
          <a:sy n="107" d="100"/>
        </p:scale>
        <p:origin x="76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612729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[Sources]
- Geen externe bronnen. Inhoud is gebaseerd op het door de gebruiker aangeleverde scenario.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[Sources]
- Geen externe bronnen. Inhoud is gebaseerd op het door de gebruiker aangeleverde scenario.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[Sources]
- Geen externe bronnen. Inhoud is gebaseerd op het door de gebruiker aangeleverde scenario.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8BC34A"/>
          </a:solidFill>
          <a:ln w="12700">
            <a:solidFill>
              <a:srgbClr val="8BC34A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263238"/>
          </a:solidFill>
          <a:ln w="12700">
            <a:solidFill>
              <a:srgbClr val="263238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28232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28232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‹nr.›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658368"/>
            <a:ext cx="5349240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5400" dist="127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4" name="Text 2"/>
          <p:cNvSpPr/>
          <p:nvPr/>
        </p:nvSpPr>
        <p:spPr>
          <a:xfrm>
            <a:off x="960120" y="1097280"/>
            <a:ext cx="4480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 </a:t>
            </a:r>
            <a:r>
              <a:rPr lang="en-US" sz="2400" b="1" err="1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situatie</a:t>
            </a:r>
            <a:r>
              <a:rPr lang="en-US" sz="2400" b="1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:</a:t>
            </a:r>
          </a:p>
          <a:p>
            <a:pPr marL="0" indent="0">
              <a:buNone/>
            </a:pPr>
            <a:r>
              <a:rPr lang="en-US" sz="2400" b="1" err="1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Onterechte</a:t>
            </a:r>
            <a:r>
              <a:rPr lang="en-US" sz="2400" b="1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2400" b="1" err="1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beslissing</a:t>
            </a:r>
            <a:r>
              <a:rPr lang="en-US" sz="2400" b="1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in </a:t>
            </a:r>
            <a:r>
              <a:rPr lang="en-US" sz="2400" b="1" err="1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basisopstelling</a:t>
            </a:r>
            <a:r>
              <a:rPr lang="en-US" sz="2400" b="1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2400" b="1" err="1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voetbalteam</a:t>
            </a:r>
            <a:endParaRPr lang="en-US" sz="2400"/>
          </a:p>
        </p:txBody>
      </p:sp>
      <p:sp>
        <p:nvSpPr>
          <p:cNvPr id="5" name="Text 3"/>
          <p:cNvSpPr/>
          <p:nvPr/>
        </p:nvSpPr>
        <p:spPr>
          <a:xfrm>
            <a:off x="960120" y="2487168"/>
            <a:ext cx="4160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800"/>
          </a:p>
        </p:txBody>
      </p:sp>
      <p:sp>
        <p:nvSpPr>
          <p:cNvPr id="15" name="Text 13"/>
          <p:cNvSpPr/>
          <p:nvPr/>
        </p:nvSpPr>
        <p:spPr>
          <a:xfrm>
            <a:off x="960120" y="39502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/>
          </a:p>
        </p:txBody>
      </p:sp>
      <p:sp>
        <p:nvSpPr>
          <p:cNvPr id="16" name="Text 14"/>
          <p:cNvSpPr/>
          <p:nvPr/>
        </p:nvSpPr>
        <p:spPr>
          <a:xfrm>
            <a:off x="960120" y="2222215"/>
            <a:ext cx="4526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>
              <a:solidFill>
                <a:srgbClr val="0F172A"/>
              </a:solidFill>
              <a:latin typeface="Aptos" pitchFamily="34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28232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</a:t>
            </a:fld>
            <a:endParaRPr lang="en-US"/>
          </a:p>
        </p:txBody>
      </p:sp>
      <p:pic>
        <p:nvPicPr>
          <p:cNvPr id="1026" name="Picture 2" descr="sc Emmeloord - 'De oudste voetbalvereniging van de Noordoostpolder' - Over  de Bal">
            <a:extLst>
              <a:ext uri="{FF2B5EF4-FFF2-40B4-BE49-F238E27FC236}">
                <a16:creationId xmlns:a16="http://schemas.microsoft.com/office/drawing/2014/main" id="{D64D3C4B-C1FF-A2E4-2A4B-EBA5345F3E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9360" y="1340488"/>
            <a:ext cx="5634600" cy="375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Afbeelding 5">
            <a:extLst>
              <a:ext uri="{FF2B5EF4-FFF2-40B4-BE49-F238E27FC236}">
                <a16:creationId xmlns:a16="http://schemas.microsoft.com/office/drawing/2014/main" id="{5C51BB7C-F76F-C135-0741-66DBB502A9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830" y="2724912"/>
            <a:ext cx="4514850" cy="2533650"/>
          </a:xfrm>
          <a:prstGeom prst="rect">
            <a:avLst/>
          </a:prstGeom>
        </p:spPr>
      </p:pic>
      <p:sp>
        <p:nvSpPr>
          <p:cNvPr id="9" name="Stroomdiagram: Verbindingslijn 8">
            <a:extLst>
              <a:ext uri="{FF2B5EF4-FFF2-40B4-BE49-F238E27FC236}">
                <a16:creationId xmlns:a16="http://schemas.microsoft.com/office/drawing/2014/main" id="{69FE5485-6480-6097-0508-0FA2AC0CADE9}"/>
              </a:ext>
            </a:extLst>
          </p:cNvPr>
          <p:cNvSpPr/>
          <p:nvPr/>
        </p:nvSpPr>
        <p:spPr>
          <a:xfrm>
            <a:off x="2113384" y="3045276"/>
            <a:ext cx="457200" cy="457200"/>
          </a:xfrm>
          <a:prstGeom prst="flowChartConnector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7040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1E29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 centrale vraag</a:t>
            </a:r>
            <a:endParaRPr lang="en-US" sz="2600"/>
          </a:p>
        </p:txBody>
      </p:sp>
      <p:sp>
        <p:nvSpPr>
          <p:cNvPr id="14" name="Shape 12"/>
          <p:cNvSpPr/>
          <p:nvPr/>
        </p:nvSpPr>
        <p:spPr>
          <a:xfrm>
            <a:off x="6327648" y="1417320"/>
            <a:ext cx="5166360" cy="4480560"/>
          </a:xfrm>
          <a:prstGeom prst="roundRect">
            <a:avLst>
              <a:gd name="adj" fmla="val 1633"/>
            </a:avLst>
          </a:prstGeom>
          <a:solidFill>
            <a:srgbClr val="E8F5E9"/>
          </a:solidFill>
          <a:ln w="12700">
            <a:solidFill>
              <a:srgbClr val="C5E1A5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5" name="Text 13"/>
          <p:cNvSpPr/>
          <p:nvPr/>
        </p:nvSpPr>
        <p:spPr>
          <a:xfrm>
            <a:off x="6629400" y="18288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3369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Centrale betekenisvraag</a:t>
            </a:r>
            <a:endParaRPr lang="en-US" sz="1800"/>
          </a:p>
        </p:txBody>
      </p:sp>
      <p:sp>
        <p:nvSpPr>
          <p:cNvPr id="16" name="Text 14"/>
          <p:cNvSpPr/>
          <p:nvPr/>
        </p:nvSpPr>
        <p:spPr>
          <a:xfrm>
            <a:off x="6629400" y="2331720"/>
            <a:ext cx="44805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>
                <a:solidFill>
                  <a:srgbClr val="1B43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Is het gerechtvaardigd dat een trainer afwijkt van teamafspraken over de basisopstelling, als dat ten koste gaat van eerlijkheid en vertrouwen?</a:t>
            </a:r>
            <a:endParaRPr lang="en-US" sz="2100"/>
          </a:p>
        </p:txBody>
      </p:sp>
      <p:sp>
        <p:nvSpPr>
          <p:cNvPr id="17" name="Text 15"/>
          <p:cNvSpPr/>
          <p:nvPr/>
        </p:nvSpPr>
        <p:spPr>
          <a:xfrm>
            <a:off x="6629400" y="416052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/>
          </a:p>
        </p:txBody>
      </p:sp>
      <p:sp>
        <p:nvSpPr>
          <p:cNvPr id="18" name="Text 16"/>
          <p:cNvSpPr/>
          <p:nvPr/>
        </p:nvSpPr>
        <p:spPr>
          <a:xfrm>
            <a:off x="6629400" y="443484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28232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  <p:pic>
        <p:nvPicPr>
          <p:cNvPr id="2050" name="Picture 2" descr="Spurs'-coach Mourinho: 'Europa League is geen competitie waar ik van hou' –  STVS">
            <a:extLst>
              <a:ext uri="{FF2B5EF4-FFF2-40B4-BE49-F238E27FC236}">
                <a16:creationId xmlns:a16="http://schemas.microsoft.com/office/drawing/2014/main" id="{9E86E86B-FBE7-B76E-5BFF-77B749DCCB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929" y="1741263"/>
            <a:ext cx="6000843" cy="33754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7CB3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Argumentatie</a:t>
            </a:r>
            <a:endParaRPr lang="en-US" sz="140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7040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1E29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Belangrijkste argumenten en conclusie</a:t>
            </a:r>
            <a:endParaRPr lang="en-US" sz="260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3246120" cy="448056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5" name="Text 3"/>
          <p:cNvSpPr/>
          <p:nvPr/>
        </p:nvSpPr>
        <p:spPr>
          <a:xfrm>
            <a:off x="914400" y="16916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Moreel</a:t>
            </a:r>
            <a:endParaRPr lang="en-US" sz="1800"/>
          </a:p>
        </p:txBody>
      </p:sp>
      <p:sp>
        <p:nvSpPr>
          <p:cNvPr id="6" name="Shape 4"/>
          <p:cNvSpPr/>
          <p:nvPr/>
        </p:nvSpPr>
        <p:spPr>
          <a:xfrm>
            <a:off x="4160520" y="1417320"/>
            <a:ext cx="3246120" cy="448056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7" name="Text 5"/>
          <p:cNvSpPr/>
          <p:nvPr/>
        </p:nvSpPr>
        <p:spPr>
          <a:xfrm>
            <a:off x="4389120" y="16916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Teamdynamiek</a:t>
            </a:r>
            <a:endParaRPr lang="en-US" sz="1800"/>
          </a:p>
        </p:txBody>
      </p:sp>
      <p:sp>
        <p:nvSpPr>
          <p:cNvPr id="8" name="Shape 6"/>
          <p:cNvSpPr/>
          <p:nvPr/>
        </p:nvSpPr>
        <p:spPr>
          <a:xfrm>
            <a:off x="7635240" y="1417320"/>
            <a:ext cx="3246120" cy="4480560"/>
          </a:xfrm>
          <a:prstGeom prst="roundRect">
            <a:avLst>
              <a:gd name="adj" fmla="val 2254"/>
            </a:avLst>
          </a:prstGeom>
          <a:solidFill>
            <a:srgbClr val="E8F5E9"/>
          </a:solidFill>
          <a:ln w="12700">
            <a:solidFill>
              <a:srgbClr val="C5E1A5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9" name="Text 7"/>
          <p:cNvSpPr/>
          <p:nvPr/>
        </p:nvSpPr>
        <p:spPr>
          <a:xfrm>
            <a:off x="7863840" y="16916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3369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Conclusie</a:t>
            </a:r>
            <a:endParaRPr lang="en-US" sz="1800"/>
          </a:p>
        </p:txBody>
      </p:sp>
      <p:sp>
        <p:nvSpPr>
          <p:cNvPr id="10" name="Shape 8"/>
          <p:cNvSpPr/>
          <p:nvPr/>
        </p:nvSpPr>
        <p:spPr>
          <a:xfrm>
            <a:off x="914400" y="2221992"/>
            <a:ext cx="118872" cy="118872"/>
          </a:xfrm>
          <a:prstGeom prst="ellipse">
            <a:avLst/>
          </a:prstGeom>
          <a:solidFill>
            <a:srgbClr val="8BC34A"/>
          </a:solidFill>
          <a:ln w="12700">
            <a:solidFill>
              <a:srgbClr val="8BC34A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1" name="Text 9"/>
          <p:cNvSpPr/>
          <p:nvPr/>
        </p:nvSpPr>
        <p:spPr>
          <a:xfrm>
            <a:off x="1115568" y="214884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Afspraken moeten voor iedereen gelden.</a:t>
            </a:r>
            <a:endParaRPr lang="en-US" sz="1550"/>
          </a:p>
        </p:txBody>
      </p:sp>
      <p:sp>
        <p:nvSpPr>
          <p:cNvPr id="12" name="Shape 10"/>
          <p:cNvSpPr/>
          <p:nvPr/>
        </p:nvSpPr>
        <p:spPr>
          <a:xfrm>
            <a:off x="914400" y="3200400"/>
            <a:ext cx="118872" cy="118872"/>
          </a:xfrm>
          <a:prstGeom prst="ellipse">
            <a:avLst/>
          </a:prstGeom>
          <a:solidFill>
            <a:srgbClr val="8BC34A"/>
          </a:solidFill>
          <a:ln w="12700">
            <a:solidFill>
              <a:srgbClr val="8BC34A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3" name="Text 11"/>
          <p:cNvSpPr/>
          <p:nvPr/>
        </p:nvSpPr>
        <p:spPr>
          <a:xfrm>
            <a:off x="1115568" y="3127248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 trainer handelde oneerlijk door zijn eigen regels te breken.</a:t>
            </a:r>
            <a:endParaRPr lang="en-US" sz="1550"/>
          </a:p>
        </p:txBody>
      </p:sp>
      <p:sp>
        <p:nvSpPr>
          <p:cNvPr id="14" name="Shape 12"/>
          <p:cNvSpPr/>
          <p:nvPr/>
        </p:nvSpPr>
        <p:spPr>
          <a:xfrm>
            <a:off x="914400" y="4178808"/>
            <a:ext cx="118872" cy="118872"/>
          </a:xfrm>
          <a:prstGeom prst="ellipse">
            <a:avLst/>
          </a:prstGeom>
          <a:solidFill>
            <a:srgbClr val="8BC34A"/>
          </a:solidFill>
          <a:ln w="12700">
            <a:solidFill>
              <a:srgbClr val="8BC34A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5" name="Text 13"/>
          <p:cNvSpPr/>
          <p:nvPr/>
        </p:nvSpPr>
        <p:spPr>
          <a:xfrm>
            <a:off x="1115568" y="4105656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Daardoor komt gelijke behandeling onder druk te staan.</a:t>
            </a:r>
            <a:endParaRPr lang="en-US" sz="1550"/>
          </a:p>
        </p:txBody>
      </p:sp>
      <p:sp>
        <p:nvSpPr>
          <p:cNvPr id="16" name="Shape 14"/>
          <p:cNvSpPr/>
          <p:nvPr/>
        </p:nvSpPr>
        <p:spPr>
          <a:xfrm>
            <a:off x="4389120" y="2221992"/>
            <a:ext cx="118872" cy="118872"/>
          </a:xfrm>
          <a:prstGeom prst="ellipse">
            <a:avLst/>
          </a:prstGeom>
          <a:solidFill>
            <a:srgbClr val="8BC34A"/>
          </a:solidFill>
          <a:ln w="12700">
            <a:solidFill>
              <a:srgbClr val="8BC34A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7" name="Text 15"/>
          <p:cNvSpPr/>
          <p:nvPr/>
        </p:nvSpPr>
        <p:spPr>
          <a:xfrm>
            <a:off x="4590288" y="214884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Vertrouwen in de trainer neemt af.</a:t>
            </a:r>
            <a:endParaRPr lang="en-US" sz="1550"/>
          </a:p>
        </p:txBody>
      </p:sp>
      <p:sp>
        <p:nvSpPr>
          <p:cNvPr id="18" name="Shape 16"/>
          <p:cNvSpPr/>
          <p:nvPr/>
        </p:nvSpPr>
        <p:spPr>
          <a:xfrm>
            <a:off x="4389120" y="3200400"/>
            <a:ext cx="118872" cy="118872"/>
          </a:xfrm>
          <a:prstGeom prst="ellipse">
            <a:avLst/>
          </a:prstGeom>
          <a:solidFill>
            <a:srgbClr val="8BC34A"/>
          </a:solidFill>
          <a:ln w="12700">
            <a:solidFill>
              <a:srgbClr val="8BC34A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9" name="Text 17"/>
          <p:cNvSpPr/>
          <p:nvPr/>
        </p:nvSpPr>
        <p:spPr>
          <a:xfrm>
            <a:off x="4590288" y="3127248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Spelers raken minder gemotiveerd als afspraken niet tellen.</a:t>
            </a:r>
            <a:endParaRPr lang="en-US" sz="1550"/>
          </a:p>
        </p:txBody>
      </p:sp>
      <p:sp>
        <p:nvSpPr>
          <p:cNvPr id="20" name="Shape 18"/>
          <p:cNvSpPr/>
          <p:nvPr/>
        </p:nvSpPr>
        <p:spPr>
          <a:xfrm>
            <a:off x="4389120" y="4178808"/>
            <a:ext cx="118872" cy="118872"/>
          </a:xfrm>
          <a:prstGeom prst="ellipse">
            <a:avLst/>
          </a:prstGeom>
          <a:solidFill>
            <a:srgbClr val="8BC34A"/>
          </a:solidFill>
          <a:ln w="12700">
            <a:solidFill>
              <a:srgbClr val="8BC34A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21" name="Text 19"/>
          <p:cNvSpPr/>
          <p:nvPr/>
        </p:nvSpPr>
        <p:spPr>
          <a:xfrm>
            <a:off x="4590288" y="4105656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 stilte van het team betekent niet dat de keuze goed was.</a:t>
            </a:r>
            <a:endParaRPr lang="en-US" sz="1550"/>
          </a:p>
        </p:txBody>
      </p:sp>
      <p:sp>
        <p:nvSpPr>
          <p:cNvPr id="22" name="Shape 20"/>
          <p:cNvSpPr/>
          <p:nvPr/>
        </p:nvSpPr>
        <p:spPr>
          <a:xfrm>
            <a:off x="7863840" y="2221992"/>
            <a:ext cx="118872" cy="118872"/>
          </a:xfrm>
          <a:prstGeom prst="ellipse">
            <a:avLst/>
          </a:prstGeom>
          <a:solidFill>
            <a:srgbClr val="8BC34A"/>
          </a:solidFill>
          <a:ln w="12700">
            <a:solidFill>
              <a:srgbClr val="8BC34A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23" name="Text 21"/>
          <p:cNvSpPr/>
          <p:nvPr/>
        </p:nvSpPr>
        <p:spPr>
          <a:xfrm>
            <a:off x="8065008" y="214884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Een trainer mag keuzes aanpassen.</a:t>
            </a:r>
            <a:endParaRPr lang="en-US" sz="1550"/>
          </a:p>
        </p:txBody>
      </p:sp>
      <p:sp>
        <p:nvSpPr>
          <p:cNvPr id="24" name="Shape 22"/>
          <p:cNvSpPr/>
          <p:nvPr/>
        </p:nvSpPr>
        <p:spPr>
          <a:xfrm>
            <a:off x="7863840" y="3200400"/>
            <a:ext cx="118872" cy="118872"/>
          </a:xfrm>
          <a:prstGeom prst="ellipse">
            <a:avLst/>
          </a:prstGeom>
          <a:solidFill>
            <a:srgbClr val="8BC34A"/>
          </a:solidFill>
          <a:ln w="12700">
            <a:solidFill>
              <a:srgbClr val="8BC34A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25" name="Text 23"/>
          <p:cNvSpPr/>
          <p:nvPr/>
        </p:nvSpPr>
        <p:spPr>
          <a:xfrm>
            <a:off x="8065008" y="3127248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Maar dat moet eerlijk, duidelijk en uitlegbaar gebeuren.</a:t>
            </a:r>
            <a:endParaRPr lang="en-US" sz="1550"/>
          </a:p>
        </p:txBody>
      </p:sp>
      <p:sp>
        <p:nvSpPr>
          <p:cNvPr id="26" name="Shape 24"/>
          <p:cNvSpPr/>
          <p:nvPr/>
        </p:nvSpPr>
        <p:spPr>
          <a:xfrm>
            <a:off x="7863840" y="4178808"/>
            <a:ext cx="118872" cy="118872"/>
          </a:xfrm>
          <a:prstGeom prst="ellipse">
            <a:avLst/>
          </a:prstGeom>
          <a:solidFill>
            <a:srgbClr val="8BC34A"/>
          </a:solidFill>
          <a:ln w="12700">
            <a:solidFill>
              <a:srgbClr val="8BC34A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27" name="Text 25"/>
          <p:cNvSpPr/>
          <p:nvPr/>
        </p:nvSpPr>
        <p:spPr>
          <a:xfrm>
            <a:off x="8065008" y="4105656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Zonder uitleg beschadigt hij het vertrouwen en de teamcultuur.</a:t>
            </a:r>
            <a:endParaRPr lang="en-US" sz="155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28232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197</Words>
  <Application>Microsoft Macintosh PowerPoint</Application>
  <PresentationFormat>Breedbeeld</PresentationFormat>
  <Paragraphs>28</Paragraphs>
  <Slides>3</Slides>
  <Notes>3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3</vt:i4>
      </vt:variant>
      <vt:variant>
        <vt:lpstr>Thema</vt:lpstr>
      </vt:variant>
      <vt:variant>
        <vt:i4>1</vt:i4>
      </vt:variant>
      <vt:variant>
        <vt:lpstr>Diatitels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PowerPoint-presentatie</vt:lpstr>
      <vt:lpstr>PowerPoint-presentatie</vt:lpstr>
      <vt:lpstr>PowerPoint-presentatie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Onterecht wisselen in het voetbalteam</dc:title>
  <dc:subject>Korte presentatie over onterecht wisselen in een voetbalteam</dc:subject>
  <dc:creator>OpenAI</dc:creator>
  <cp:lastModifiedBy>Thijs Hekking (student)</cp:lastModifiedBy>
  <cp:revision>2</cp:revision>
  <dcterms:created xsi:type="dcterms:W3CDTF">2026-04-15T08:33:16Z</dcterms:created>
  <dcterms:modified xsi:type="dcterms:W3CDTF">2026-05-08T07:47:22Z</dcterms:modified>
</cp:coreProperties>
</file>